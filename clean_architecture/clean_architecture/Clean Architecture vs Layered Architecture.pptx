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9" r:id="rId14"/>
    <p:sldId id="269" r:id="rId15"/>
    <p:sldId id="270" r:id="rId16"/>
    <p:sldId id="271" r:id="rId17"/>
    <p:sldId id="272" r:id="rId18"/>
    <p:sldId id="273" r:id="rId19"/>
    <p:sldId id="281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24.png"/><Relationship Id="rId4" Type="http://schemas.openxmlformats.org/officeDocument/2006/relationships/image" Target="../media/image5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795" y="1043285"/>
            <a:ext cx="3364259" cy="371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600" y="4502348"/>
            <a:ext cx="5638800" cy="13123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76600" y="4702373"/>
            <a:ext cx="56388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Nhóm sinh viên thực hiện: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76600" y="5071913"/>
            <a:ext cx="5638800" cy="2233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 dirty="0" err="1">
                <a:solidFill>
                  <a:srgbClr val="94A3B8"/>
                </a:solidFill>
                <a:latin typeface="Inter"/>
              </a:rPr>
              <a:t>Trương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Inter"/>
              </a:rPr>
              <a:t>Quốc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1200" b="0" i="0" u="none" dirty="0" err="1">
                <a:solidFill>
                  <a:srgbClr val="94A3B8"/>
                </a:solidFill>
                <a:latin typeface="Inter"/>
              </a:rPr>
              <a:t>Toản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 • Nguyễn Bá Nam • </a:t>
            </a:r>
            <a:r>
              <a:rPr lang="en-US" sz="1200" b="0" i="0" u="none" dirty="0" err="1">
                <a:solidFill>
                  <a:srgbClr val="94A3B8"/>
                </a:solidFill>
                <a:latin typeface="Inter"/>
              </a:rPr>
              <a:t>Đào</a:t>
            </a:r>
            <a:r>
              <a:rPr lang="en-US" sz="12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lang="en-US" sz="1200" b="0" i="0" u="none" dirty="0" err="1">
                <a:solidFill>
                  <a:srgbClr val="94A3B8"/>
                </a:solidFill>
                <a:latin typeface="Inter"/>
              </a:rPr>
              <a:t>Đăng</a:t>
            </a:r>
            <a:r>
              <a:rPr lang="en-US" sz="1200" b="0" i="0" u="none" dirty="0">
                <a:solidFill>
                  <a:srgbClr val="94A3B8"/>
                </a:solidFill>
                <a:latin typeface="Inter"/>
              </a:rPr>
              <a:t> Quang </a:t>
            </a:r>
            <a:r>
              <a:rPr sz="1200" b="0" i="0" u="none" dirty="0">
                <a:solidFill>
                  <a:srgbClr val="94A3B8"/>
                </a:solidFill>
                <a:latin typeface="Inter"/>
              </a:rPr>
              <a:t>• </a:t>
            </a:r>
            <a:r>
              <a:rPr lang="en-US" sz="1200" b="0" i="0" u="none" dirty="0" err="1">
                <a:solidFill>
                  <a:srgbClr val="94A3B8"/>
                </a:solidFill>
                <a:latin typeface="Inter"/>
              </a:rPr>
              <a:t>Trần</a:t>
            </a:r>
            <a:r>
              <a:rPr lang="en-US" sz="1200" b="0" i="0" u="none" dirty="0">
                <a:solidFill>
                  <a:srgbClr val="94A3B8"/>
                </a:solidFill>
                <a:latin typeface="Inter"/>
              </a:rPr>
              <a:t> An Bình</a:t>
            </a:r>
            <a:endParaRPr sz="120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10639" y="1643360"/>
            <a:ext cx="5770721" cy="12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sz="4200" b="1" i="0" u="none">
                <a:solidFill>
                  <a:srgbClr val="F8FAFC"/>
                </a:solidFill>
                <a:latin typeface="Inter"/>
              </a:rPr>
              <a:t>Clean Architecture &amp;</a:t>
            </a:r>
            <a:r>
              <a:t>
</a:t>
            </a:r>
            <a:r>
              <a:rPr sz="4200" b="1" i="0" u="none">
                <a:solidFill>
                  <a:srgbClr val="38BDF8"/>
                </a:solidFill>
                <a:latin typeface="Inter"/>
              </a:rPr>
              <a:t>Layered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151882"/>
            <a:ext cx="7620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94A3B8"/>
                </a:solidFill>
                <a:latin typeface="Inter"/>
              </a:rPr>
              <a:t>Tổ chức code để thay đổi dễ hơn — không phải để có nhiều folder hơn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Fira Code Semi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639192"/>
            <a:ext cx="2571750" cy="147444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50" y="1639192"/>
            <a:ext cx="2571750" cy="14744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372867"/>
            <a:ext cx="2571750" cy="14744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50" y="4372867"/>
            <a:ext cx="2571750" cy="1474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2280344"/>
            <a:ext cx="56007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38BDF8"/>
                </a:solidFill>
                <a:latin typeface="Inter"/>
              </a:rPr>
              <a:t>Hiểu → Phân biệt → Lựa chọn → Áp dụng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461444"/>
            <a:ext cx="51054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Giải thích được tư tưởng của hai kiến trúc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850034"/>
            <a:ext cx="51054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Thiết kế cấu trúc thư mục và trách nhiệm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4238625"/>
            <a:ext cx="51054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Theo dõi một luồng CRUD xuyên qua các lớp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627215"/>
            <a:ext cx="51054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Chỉ ra SOLID ngay trên code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2238" y="1886842"/>
            <a:ext cx="2180272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38BDF8"/>
                </a:solidFill>
                <a:latin typeface="Inter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150" y="2448817"/>
            <a:ext cx="20764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Hiểu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44488" y="1886842"/>
            <a:ext cx="2180272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10B981"/>
                </a:solidFill>
                <a:latin typeface="Inte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6400" y="2448817"/>
            <a:ext cx="20764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So sánh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2238" y="4620517"/>
            <a:ext cx="2180272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F59E0B"/>
                </a:solidFill>
                <a:latin typeface="Inter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150" y="5182492"/>
            <a:ext cx="20764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Áp dụng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4488" y="4620517"/>
            <a:ext cx="2180272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EF4444"/>
                </a:solidFill>
                <a:latin typeface="Inter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6400" y="5182492"/>
            <a:ext cx="20764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3461444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3850034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" y="4238625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" y="4627215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Sau buổi này, bạn làm được gì?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Fira Code Semi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0" y="1104900"/>
            <a:ext cx="4267200" cy="3333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9980" y="1629667"/>
            <a:ext cx="3093690" cy="876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9980" y="2791717"/>
            <a:ext cx="1451669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2150" y="2791717"/>
            <a:ext cx="1451669" cy="419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1104900"/>
            <a:ext cx="64008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F8FAFC"/>
                </a:solidFill>
                <a:latin typeface="Inter SemiBold"/>
              </a:rPr>
              <a:t>Business rule </a:t>
            </a:r>
            <a:r>
              <a:rPr sz="1650" b="0" i="0" u="none" dirty="0" err="1">
                <a:solidFill>
                  <a:srgbClr val="F8FAFC"/>
                </a:solidFill>
                <a:latin typeface="Inter SemiBold"/>
              </a:rPr>
              <a:t>ổn</a:t>
            </a:r>
            <a:r>
              <a:rPr sz="1650" b="0" i="0" u="none" dirty="0">
                <a:solidFill>
                  <a:srgbClr val="F8FAFC"/>
                </a:solidFill>
                <a:latin typeface="Inter SemiBold"/>
              </a:rPr>
              <a:t> </a:t>
            </a:r>
            <a:r>
              <a:rPr sz="1650" b="0" i="0" u="none" dirty="0" err="1">
                <a:solidFill>
                  <a:srgbClr val="F8FAFC"/>
                </a:solidFill>
                <a:latin typeface="Inter SemiBold"/>
              </a:rPr>
              <a:t>định</a:t>
            </a:r>
            <a:r>
              <a:rPr sz="1650" b="0" i="0" u="none" dirty="0">
                <a:solidFill>
                  <a:srgbClr val="F8FAFC"/>
                </a:solidFill>
                <a:latin typeface="Inter SemiBold"/>
              </a:rPr>
              <a:t> </a:t>
            </a:r>
            <a:r>
              <a:rPr sz="1650" b="0" i="0" u="none" dirty="0" err="1">
                <a:solidFill>
                  <a:srgbClr val="F8FAFC"/>
                </a:solidFill>
                <a:latin typeface="Inter SemiBold"/>
              </a:rPr>
              <a:t>hơn</a:t>
            </a:r>
            <a:r>
              <a:rPr sz="1650" b="0" i="0" u="none" dirty="0">
                <a:solidFill>
                  <a:srgbClr val="F8FAFC"/>
                </a:solidFill>
                <a:latin typeface="Inter SemiBold"/>
              </a:rPr>
              <a:t> framework, UI </a:t>
            </a:r>
            <a:r>
              <a:rPr sz="1650" b="0" i="0" u="none" dirty="0" err="1">
                <a:solidFill>
                  <a:srgbClr val="F8FAFC"/>
                </a:solidFill>
                <a:latin typeface="Inter SemiBold"/>
              </a:rPr>
              <a:t>và</a:t>
            </a:r>
            <a:r>
              <a:rPr sz="1650" b="0" i="0" u="none" dirty="0">
                <a:solidFill>
                  <a:srgbClr val="F8FAFC"/>
                </a:solidFill>
                <a:latin typeface="Inter SemiBold"/>
              </a:rPr>
              <a:t>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0087" y="3496567"/>
            <a:ext cx="233362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1" u="none">
                <a:solidFill>
                  <a:srgbClr val="64748B"/>
                </a:solidFill>
                <a:latin typeface="Inter"/>
              </a:rPr>
              <a:t>Frameworks thay đổi liên tục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1630560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Hôm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nay: REST + EF Core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InMemory</a:t>
            </a:r>
            <a:endParaRPr sz="1350" b="0" i="0" u="none" dirty="0">
              <a:solidFill>
                <a:srgbClr val="CBD5E1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0100" y="2019151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Ngày mai: gRPC + SQL Server?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2407741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Nếu nghiệp vụ phụ thuộc chi tiết, mọi thay đổi đều lan rộng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7704" y="2448817"/>
            <a:ext cx="1714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 SemiBold"/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96238" y="2153542"/>
            <a:ext cx="5810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F59E0B"/>
                </a:solidFill>
                <a:latin typeface="Inter"/>
              </a:rPr>
              <a:t>(Ổn định)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1630560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2019151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2407741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Bài toán thật: thay đổi luôn xảy 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Fira Code Semi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0" y="1104900"/>
            <a:ext cx="4267200" cy="3333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9980" y="1528762"/>
            <a:ext cx="3093690" cy="514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9980" y="2185987"/>
            <a:ext cx="3093690" cy="514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9980" y="2843212"/>
            <a:ext cx="3093690" cy="514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9980" y="3500437"/>
            <a:ext cx="3093690" cy="514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1104900"/>
            <a:ext cx="64008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Mỗi tầng có một trách nhiệm và thường gọi tầng ngay bên dưới.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1531590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8BDF8"/>
                </a:solidFill>
                <a:latin typeface="Inter SemiBold"/>
              </a:rPr>
              <a:t>Presentation: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HTTP/UI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1920180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59E0B"/>
                </a:solidFill>
                <a:latin typeface="Inter SemiBold"/>
              </a:rPr>
              <a:t>Business Logic: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xử lý nghiệp vụ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2308770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10B981"/>
                </a:solidFill>
                <a:latin typeface="Inter SemiBold"/>
              </a:rPr>
              <a:t>Data Access: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truy cập dữ liệu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2697360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F4444"/>
                </a:solidFill>
                <a:latin typeface="Inter SemiBold"/>
              </a:rPr>
              <a:t>Database: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lưu trữ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1531590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1920180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2308770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2697360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Layered Architecture: chia theo tầng ngang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Fira Code Semi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0" y="1104900"/>
            <a:ext cx="4267200" cy="3333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22065"/>
            <a:ext cx="6400800" cy="5600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6652" y="1576387"/>
            <a:ext cx="3480345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6652" y="2233612"/>
            <a:ext cx="3480345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6652" y="2890837"/>
            <a:ext cx="3480345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6652" y="3548062"/>
            <a:ext cx="3480345" cy="419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1104900"/>
            <a:ext cx="64008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Một thay đổi ở tầng dưới có thể kéo các tầng trên đi cùng.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1664940"/>
            <a:ext cx="59817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FCA5A5"/>
                </a:solidFill>
                <a:latin typeface="Inter"/>
              </a:rPr>
              <a:t>Nguy cơ:</a:t>
            </a:r>
            <a:r>
              <a:rPr sz="1350" b="0" i="0" u="none">
                <a:solidFill>
                  <a:srgbClr val="FCA5A5"/>
                </a:solidFill>
                <a:latin typeface="Inter"/>
              </a:rPr>
              <a:t> Business logic biết ORM/model dữ liệu (rò rỉ abstraction).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2425005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Controller → Service → Repository →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2813595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Dễ hiểu và triển khai nhanh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6652" y="2043112"/>
            <a:ext cx="348034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call + dependency 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6652" y="2700337"/>
            <a:ext cx="348034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call + dependency 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6652" y="3357562"/>
            <a:ext cx="348034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Inter"/>
              </a:rPr>
              <a:t>call + dependency 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2425005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2813595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Layered: đơn giản, nhưng dễ phụ thuộc dây chuyền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Fira Code Semi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22065"/>
            <a:ext cx="5334000" cy="485968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522065"/>
            <a:ext cx="5334000" cy="48596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104900"/>
            <a:ext cx="11049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Kiến trúc tốt là kiến trúc vừa đủ cho bài toán.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1817340"/>
            <a:ext cx="4980622" cy="285750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0B981"/>
                </a:solidFill>
                <a:latin typeface="Inter"/>
              </a:rPr>
              <a:t>Phù hợp</a:t>
            </a:r>
          </a:p>
        </p:txBody>
      </p:sp>
      <p:sp>
        <p:nvSpPr>
          <p:cNvPr id="7" name="Rectangle 6"/>
          <p:cNvSpPr/>
          <p:nvPr/>
        </p:nvSpPr>
        <p:spPr>
          <a:xfrm>
            <a:off x="866775" y="2188815"/>
            <a:ext cx="4743450" cy="95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1775" y="1817340"/>
            <a:ext cx="4980622" cy="285750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F4444"/>
                </a:solidFill>
                <a:latin typeface="Inter"/>
              </a:rPr>
              <a:t>Cần cảnh giác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1775" y="2188815"/>
            <a:ext cx="4743450" cy="95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1836390"/>
            <a:ext cx="20002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6775" y="2350740"/>
            <a:ext cx="47434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✓ CRUD nhỏ, nghiệp vụ đơn giản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2720280"/>
            <a:ext cx="47434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✓ Giao hàng nhanh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775" y="3089820"/>
            <a:ext cx="47434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✓ Đội ngũ mới, thời gian ngắn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3459360"/>
            <a:ext cx="47434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✓ Framework/database ít khả năng thay đổi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1836390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81775" y="2350740"/>
            <a:ext cx="47434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! Service phình to, chứa quá nhiều 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1775" y="2720280"/>
            <a:ext cx="47434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! Model rò rỉ qua các tầng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1775" y="3089820"/>
            <a:ext cx="47434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! Khó test độc lập (mocking khó khăn)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Khi nào Layered là lựa chọn hợp lý?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Fira Code Semi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0" y="1104900"/>
            <a:ext cx="4267200" cy="27659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2825" y="1114425"/>
            <a:ext cx="424815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104900"/>
            <a:ext cx="672084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2E8F0"/>
                </a:solidFill>
                <a:latin typeface="Inter"/>
              </a:rPr>
              <a:t>Cấu trúc thư mục (N-Tier)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533525"/>
            <a:ext cx="64008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Một project chia thành nhiều thư mục (hoặc nhiều project class library phụ thuộc trực tiếp từ trên xuống).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2234505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Controllers/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623095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Services/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011685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Repositories/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400276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Models/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05700" y="124301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696200" y="124301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886700" y="124301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72450" y="1209675"/>
            <a:ext cx="20574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Fira Code"/>
              </a:rPr>
              <a:t>Solution Explorer - Layered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2234505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2623095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3011685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3400276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Minh họa Layered Architecture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Fira Code SemiBold"/>
              </a:rPr>
              <a:t>07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47917C9-D9B3-C96A-3AC8-3CD97EFB32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3300" y="1495425"/>
            <a:ext cx="4267200" cy="36555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0" y="1104900"/>
            <a:ext cx="4267200" cy="3638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7650" y="1304925"/>
            <a:ext cx="3238500" cy="3238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6275" y="1733550"/>
            <a:ext cx="2381250" cy="2381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4900" y="2162175"/>
            <a:ext cx="1524000" cy="1524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3525" y="2590800"/>
            <a:ext cx="666750" cy="666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1104900"/>
            <a:ext cx="64008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Chi tiết bên ngoài phụ thuộc vào chính sách bên trong.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1531590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F4444"/>
                </a:solidFill>
                <a:latin typeface="Inter SemiBold"/>
              </a:rPr>
              <a:t>Entities: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luật nghiệp vụ cốt lõi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1920180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59E0B"/>
                </a:solidFill>
                <a:latin typeface="Inter SemiBold"/>
              </a:rPr>
              <a:t>Use Cases: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điều phối mục tiêu người dùng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2308770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10B981"/>
                </a:solidFill>
                <a:latin typeface="Inter SemiBold"/>
              </a:rPr>
              <a:t>Adapters: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chuyển đổi dữ liệu/giao tiếp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2697360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8BDF8"/>
                </a:solidFill>
                <a:latin typeface="Inter SemiBold"/>
              </a:rPr>
              <a:t>Frameworks &amp; Drivers: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Web, DB, thiết bị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1531590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1920180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2308770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2697360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Clean Architecture: bảo vệ lõi nghiệp vụ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Fira Code SemiBold"/>
              </a:rPr>
              <a:t>08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5462" y="1590675"/>
            <a:ext cx="142875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5462" y="4067175"/>
            <a:ext cx="142875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53400" y="2828925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0" y="1104900"/>
            <a:ext cx="4267200" cy="3333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62151"/>
            <a:ext cx="6400800" cy="8343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104900"/>
            <a:ext cx="64008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Vòng trong không biết tên của vòng ngoài.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1531590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Domain không biết ASP.NET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1920180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Application không biết EF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308770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Infrastructure triển khai contract do lõi sở hữu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697360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DI nối các thành phần ở ngoài cùng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305026"/>
            <a:ext cx="59817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Nguyên tắc cốt lõi: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Không một dòng code nào ở vòng trong được phép nhắc đến tên một thành phần ở vòng ngoài.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1531590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1920180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2308770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2697360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Dependency Rule: mũi tên chỉ hướng vào trong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Fira Code SemiBold"/>
              </a:rPr>
              <a:t>09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9FC610F-CDCB-EC73-02CF-2EC7B926AA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3163" y="1093747"/>
            <a:ext cx="4640687" cy="34793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0" y="1104900"/>
            <a:ext cx="2924599" cy="710029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2825" y="1114425"/>
            <a:ext cx="2915074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104900"/>
            <a:ext cx="672084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2E8F0"/>
                </a:solidFill>
                <a:latin typeface="Inter"/>
              </a:rPr>
              <a:t>Ánh xạ vào .NET: Bốn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533525"/>
            <a:ext cx="64008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Mỗi project có một lý do để thay đổi.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1960215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EF4444"/>
                </a:solidFill>
                <a:latin typeface="Inter SemiBold"/>
              </a:rPr>
              <a:t>Demo.Domain: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Entities + Contracts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348805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59E0B"/>
                </a:solidFill>
                <a:latin typeface="Inter SemiBold"/>
              </a:rPr>
              <a:t>Demo.Application: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Use Cases + DTO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737395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10B981"/>
                </a:solidFill>
                <a:latin typeface="Inter SemiBold"/>
              </a:rPr>
              <a:t>Demo.Infrastructure: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EF Core +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125985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8BDF8"/>
                </a:solidFill>
                <a:latin typeface="Inter SemiBold"/>
              </a:rPr>
              <a:t>Demo.API: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HTTP + Composition Root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05700" y="124301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696200" y="124301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886700" y="124301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72450" y="1209675"/>
            <a:ext cx="2286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Fira Code"/>
              </a:rPr>
              <a:t>Solution Explorer - Clean 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1960215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2348805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737395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3125985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Minh họa Clean Architecture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Fira Code SemiBold"/>
              </a:rPr>
              <a:t>10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F4A8345-E83D-54D8-506C-DFD9736A52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3300" y="1475779"/>
            <a:ext cx="292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104900"/>
            <a:ext cx="11049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Khác biệt cốt lõi nằm ở quyền sở hữu abstraction và chiều phụ thuộc. Cả hai đều phân tách trách nhiệm.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69572"/>
              </p:ext>
            </p:extLst>
          </p:nvPr>
        </p:nvGraphicFramePr>
        <p:xfrm>
          <a:off x="571500" y="1712565"/>
          <a:ext cx="11144250" cy="3499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67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6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1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3293">
                <a:tc>
                  <a:txBody>
                    <a:bodyPr/>
                    <a:lstStyle/>
                    <a:p>
                      <a:pPr algn="ctr"/>
                      <a:r>
                        <a:rPr sz="1350" b="1" i="0" u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</a:rPr>
                        <a:t>Tiêu</a:t>
                      </a:r>
                      <a:r>
                        <a:rPr sz="1350" b="1" i="0" u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</a:rPr>
                        <a:t> </a:t>
                      </a:r>
                      <a:r>
                        <a:rPr sz="1350" b="1" i="0" u="none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</a:rPr>
                        <a:t>chí</a:t>
                      </a:r>
                      <a:endParaRPr sz="1350" b="1" i="0" u="non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</a:rPr>
                        <a:t>LAYERED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Inter"/>
                        </a:rPr>
                        <a:t>CLEAN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293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Mục tiêu tối ưu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Sự đơn giản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Tính độc lập của lõi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293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Chiều phụ thuộc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 err="1">
                          <a:solidFill>
                            <a:srgbClr val="CBD5E1"/>
                          </a:solidFill>
                          <a:latin typeface="Inter"/>
                        </a:rPr>
                        <a:t>Trên</a:t>
                      </a:r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 → </a:t>
                      </a:r>
                      <a:r>
                        <a:rPr sz="1350" b="0" i="0" u="none" dirty="0" err="1">
                          <a:solidFill>
                            <a:srgbClr val="CBD5E1"/>
                          </a:solidFill>
                          <a:latin typeface="Inter"/>
                        </a:rPr>
                        <a:t>dưới</a:t>
                      </a:r>
                      <a:endParaRPr sz="1350" b="0" i="0" u="none" dirty="0">
                        <a:solidFill>
                          <a:srgbClr val="CBD5E1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Ngoài → trong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3293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Lõi (Business)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Có thể biết DAL/ORM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Độc lập hoàn toàn hạ tầng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3293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Tốc độ khởi đầu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Nhanh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Nhiều ranh giới (chậm hơn)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3297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Unit Test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CBD5E1"/>
                          </a:solidFill>
                          <a:latin typeface="Inter"/>
                        </a:rPr>
                        <a:t>Thường cần nhiều mock phức tạp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Use case </a:t>
                      </a:r>
                      <a:r>
                        <a:rPr sz="1350" b="0" i="0" u="none" dirty="0" err="1">
                          <a:solidFill>
                            <a:srgbClr val="CBD5E1"/>
                          </a:solidFill>
                          <a:latin typeface="Inter"/>
                        </a:rPr>
                        <a:t>độc</a:t>
                      </a:r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 </a:t>
                      </a:r>
                      <a:r>
                        <a:rPr sz="1350" b="0" i="0" u="none" dirty="0" err="1">
                          <a:solidFill>
                            <a:srgbClr val="CBD5E1"/>
                          </a:solidFill>
                          <a:latin typeface="Inter"/>
                        </a:rPr>
                        <a:t>lập</a:t>
                      </a:r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, </a:t>
                      </a:r>
                      <a:r>
                        <a:rPr sz="1350" b="0" i="0" u="none" dirty="0" err="1">
                          <a:solidFill>
                            <a:srgbClr val="CBD5E1"/>
                          </a:solidFill>
                          <a:latin typeface="Inter"/>
                        </a:rPr>
                        <a:t>dễ</a:t>
                      </a:r>
                      <a:r>
                        <a:rPr sz="135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 test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Layered và Clean: giống hình, khác trọng tâm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Fira Code Semi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07815"/>
            <a:ext cx="5334000" cy="457393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439417"/>
            <a:ext cx="5334000" cy="5600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4285208"/>
            <a:ext cx="5334000" cy="560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104900"/>
            <a:ext cx="11049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Bắt đầu đơn giản; tăng ranh giới khi rủi ro thay đổi tăng.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2103090"/>
            <a:ext cx="4980622" cy="276225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Inter"/>
              </a:rPr>
              <a:t>Đặt câu hỏi: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122140"/>
            <a:ext cx="2286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5375" y="2569815"/>
            <a:ext cx="45148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Nghiệp vụ có phức tạp và sống lâu?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375" y="2958405"/>
            <a:ext cx="45148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Hạ tầng/UI có thể thay đổi?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3346995"/>
            <a:ext cx="45148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Cần test use case không cần web/database?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3582292"/>
            <a:ext cx="49149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Nếu phần lớn là 'không' → </a:t>
            </a:r>
            <a:r>
              <a:rPr sz="1350" b="1" i="0" u="none">
                <a:solidFill>
                  <a:srgbClr val="CBD5E1"/>
                </a:solidFill>
                <a:latin typeface="Inter"/>
              </a:rPr>
              <a:t>Layered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có thể đủ.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4428083"/>
            <a:ext cx="49149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Nếu phần lớn là 'có' → </a:t>
            </a:r>
            <a:r>
              <a:rPr sz="1350" b="1" i="0" u="none">
                <a:solidFill>
                  <a:srgbClr val="CBD5E1"/>
                </a:solidFill>
                <a:latin typeface="Inter"/>
              </a:rPr>
              <a:t>Clean Architecture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là lựa chọn tốt.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2569815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775" y="2958405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" y="3346995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Chọn kiến trúc bằng câu hỏi, không bằng phong trào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Fira Code Semi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88035"/>
            <a:ext cx="11049000" cy="7733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752600"/>
            <a:ext cx="3524250" cy="22496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875" y="1752600"/>
            <a:ext cx="3524250" cy="224968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0" y="1752600"/>
            <a:ext cx="3524250" cy="22496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1209675"/>
            <a:ext cx="11049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Vì sao không chọn Layered? Nhóm chọn Clean Architecture vì dự án không chỉ làm CRUD mà còn muốn: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4430910"/>
            <a:ext cx="106299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Trọng tâm:</a:t>
            </a:r>
            <a:r>
              <a:rPr sz="1200" b="0" i="0" u="none">
                <a:solidFill>
                  <a:srgbClr val="F8FAFC"/>
                </a:solidFill>
                <a:latin typeface="Inter"/>
              </a:rPr>
              <a:t> Quy tắc "Giá sản phẩm &gt; 0" vẫn đúng dù dùng Web hay Console, SQL hay NoSQL. Vậy quy tắc này phải nằm ở Domain, chứ không phải trong Controller hay EF Core Repository.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2028825"/>
            <a:ext cx="3180397" cy="333375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oppins SemiBold"/>
              </a:rPr>
              <a:t>Tách biệt hoàn toàn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2514600"/>
            <a:ext cx="30289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Tách nghiệp vụ khỏi ASP.NET Core, EF Core và Database. Tránh để Controller hoặc Repository phình to chứa quá nhiều logic.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2028825"/>
            <a:ext cx="3180397" cy="333375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0B981"/>
                </a:solidFill>
                <a:latin typeface="Poppins SemiBold"/>
              </a:rPr>
              <a:t>Kiểm thử dễ dàng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25" y="2514600"/>
            <a:ext cx="30289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Dễ dàng viết Unit Test cho logic nghiệp vụ (Core) mà không cần phải chạy Web Server hay cấu hình Database thật.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3900" y="2028825"/>
            <a:ext cx="3180397" cy="333375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F59E0B"/>
                </a:solidFill>
                <a:latin typeface="Poppins SemiBold"/>
              </a:rPr>
              <a:t>Dễ dàng thay đổi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2514600"/>
            <a:ext cx="30289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Có thể đổi công nghệ bên ngoài (từ REST sang gRPC, SQL Server sang MongoDB) mà </a:t>
            </a:r>
            <a:r>
              <a:rPr sz="1350" b="1" i="0" u="none">
                <a:solidFill>
                  <a:srgbClr val="CBD5E1"/>
                </a:solidFill>
                <a:latin typeface="Inter"/>
              </a:rPr>
              <a:t>ít ảnh hưởng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đến phần Core bên trong.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2076450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1525" y="2076450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3900" y="207645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8FAFC"/>
                </a:solidFill>
                <a:latin typeface="Poppins SemiBold"/>
              </a:rPr>
              <a:t>3. Lựa chọn của nhóm: Clean Architecture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104900"/>
            <a:ext cx="5334000" cy="5276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22065"/>
            <a:ext cx="5334000" cy="10858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1114425"/>
            <a:ext cx="5314950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104900"/>
            <a:ext cx="5334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Trong demo, vòng này tương ứng với: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750790"/>
            <a:ext cx="5334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Lý do đặt ở vòng trong: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177480"/>
            <a:ext cx="51054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Đây là quy tắc nghiệp vụ, không phải quy tắc HTTP.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566070"/>
            <a:ext cx="51054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Không phụ thuộc Controller, MediatR, EF Core.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38900" y="124301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629400" y="124301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19900" y="124301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05650" y="1209675"/>
            <a:ext cx="1600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Fira Code"/>
              </a:rPr>
              <a:t>Product.cs (Entities)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3177480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3566070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Vòng 1: Entities — nghiệp vụ cốt lõi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Fira Code SemiBold"/>
              </a:rPr>
              <a:t>14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C57EDD4-48DB-834B-2279-754137F3A7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975" y="1504950"/>
            <a:ext cx="5334000" cy="48387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104900"/>
            <a:ext cx="5334000" cy="5276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114425"/>
            <a:ext cx="531495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104900"/>
            <a:ext cx="5334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CBD5E1"/>
                </a:solidFill>
                <a:latin typeface="Inter"/>
              </a:rPr>
              <a:t>Application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mô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tả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các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chức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năng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hệ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thống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(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Tạo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,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Cập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nhật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,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Xóa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,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Lấy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danh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sách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). Handler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chỉ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điều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phối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047851"/>
            <a:ext cx="53340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CBD5E1"/>
                </a:solidFill>
                <a:latin typeface="Inter"/>
              </a:rPr>
              <a:t>Lý do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tách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Use Case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khỏi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Controller: Use case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không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phụ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thuộc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giao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thức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HTTP.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Dễ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viết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unit 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1805880"/>
            <a:ext cx="51054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Nhận yêu cầu.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194470"/>
            <a:ext cx="51054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Gọi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Domain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để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tạo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Product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hợp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CBD5E1"/>
                </a:solidFill>
                <a:latin typeface="Inter"/>
              </a:rPr>
              <a:t>lệ</a:t>
            </a:r>
            <a:r>
              <a:rPr sz="1350" b="0" i="0" u="none" dirty="0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583060"/>
            <a:ext cx="51054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Gọi repository abstraction (IProductRepository) để lưu.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38900" y="124301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629400" y="124301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19900" y="124301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05650" y="1209675"/>
            <a:ext cx="2286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Fira Code"/>
              </a:rPr>
              <a:t>CreateProductCommandHandler.cs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1805880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2194470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2583060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Vòng 2: Use Cases — ứng dụng cần làm gì?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Fira Code SemiBold"/>
              </a:rPr>
              <a:t>15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CEDF1A7-2661-3808-628C-BA4657195B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4" y="1485825"/>
            <a:ext cx="5314949" cy="487687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0" y="1104900"/>
            <a:ext cx="4267200" cy="426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104900"/>
            <a:ext cx="64008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Chuyển đổi giữa bên ngoài và bên trong.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933551"/>
            <a:ext cx="64008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Lý do cần adapter: HTTP request không nên đi thẳng vào Domain. Domain object không nên tự gọi database.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1531590"/>
            <a:ext cx="6172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Adapter đầu vào (API):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Controller chuyển HTTP request thành Command hoặc Query.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2194470"/>
            <a:ext cx="6172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Adapter đầu ra (Infrastructure):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Repository chuyển lời gọi từ IProductRepository thành thao tác EF Core.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1531590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2194470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Vòng 3: Interface Adapters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Fira Code SemiBold"/>
              </a:rPr>
              <a:t>16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9D4E252-E323-49B2-098F-73C03B307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040" y="4485443"/>
            <a:ext cx="6200666" cy="147625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ED2D463-6C23-C7F5-2C90-2A207A829D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3206" y="1145126"/>
            <a:ext cx="5034495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0" y="1104899"/>
            <a:ext cx="4495800" cy="5362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73560"/>
            <a:ext cx="6400800" cy="11086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2824" y="1114425"/>
            <a:ext cx="4448175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104900"/>
            <a:ext cx="64008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Chi tiết triển khai, dễ thay đổi nhất.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1531590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ASP.NET Core, HTTP, Swagger.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1920180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Entity Framework Core, Database.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2308770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Dependency Injection, Middleware.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916435"/>
            <a:ext cx="59817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Program.cs là Composition Root, nơi lắp ghép abstraction với implementation. Chỉ khu vực ngoài cùng cần biết cả interface và implementation.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05700" y="124301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696200" y="124301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886700" y="124301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72450" y="1209675"/>
            <a:ext cx="2209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Fira Code"/>
              </a:rPr>
              <a:t>Program.cs (Composition Root)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1531590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1920180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2308770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Vòng 4: Frameworks &amp; Drivers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Fira Code SemiBold"/>
              </a:rPr>
              <a:t>17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2F2DA4D-715F-0DF3-948D-BF042C25E3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7367" y="1504950"/>
            <a:ext cx="4473633" cy="49625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22065"/>
            <a:ext cx="5238750" cy="485968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522065"/>
            <a:ext cx="5238750" cy="485968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7475" y="2150715"/>
            <a:ext cx="1066800" cy="390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2675" y="2846040"/>
            <a:ext cx="1676400" cy="3905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2175" y="3541365"/>
            <a:ext cx="2057400" cy="3905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5975" y="4236690"/>
            <a:ext cx="2209800" cy="3905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9562" y="2989510"/>
            <a:ext cx="533400" cy="3905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29687" y="2989510"/>
            <a:ext cx="1143000" cy="3905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48575" y="3970585"/>
            <a:ext cx="1371600" cy="3905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53575" y="3951535"/>
            <a:ext cx="800100" cy="4286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1104900"/>
            <a:ext cx="11049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Đây là điểm dễ nhầm lẫn nhất. Luồng chạy có vẻ đi từ ngoài vào trong rồi lại ra ngoài để lưu dữ liệu.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562" y="1760190"/>
            <a:ext cx="5000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8BDF8"/>
                </a:solidFill>
                <a:latin typeface="Inter"/>
              </a:rPr>
              <a:t>Luồng chạy (Runtime)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0812" y="1760190"/>
            <a:ext cx="50006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0B981"/>
                </a:solidFill>
                <a:latin typeface="Inter"/>
              </a:rPr>
              <a:t>Chiều phụ thuộc (Compile time)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9875" y="5361979"/>
            <a:ext cx="4762500" cy="213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Application gọi Interface ở lõi. Infra phụ thuộc vào Interface đó để triển khai.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33725" y="2617440"/>
            <a:ext cx="1143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33725" y="3312765"/>
            <a:ext cx="1143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33725" y="4008090"/>
            <a:ext cx="1143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05837" y="3094285"/>
            <a:ext cx="1333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10725" y="3589585"/>
            <a:ext cx="11430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63050" y="4008685"/>
            <a:ext cx="200025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Luồng chạy vs Chiều phụ thuộc (DIP)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Fira Code SemiBol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74465"/>
            <a:ext cx="5334000" cy="23574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674465"/>
            <a:ext cx="5334000" cy="23574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412902"/>
            <a:ext cx="5334000" cy="196884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412902"/>
            <a:ext cx="5334000" cy="19688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1209675"/>
            <a:ext cx="110490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Việc tách thành project (thay vì folder) giúp </a:t>
            </a:r>
            <a:r>
              <a:rPr sz="1350" b="1" i="0" u="none">
                <a:solidFill>
                  <a:srgbClr val="CBD5E1"/>
                </a:solidFill>
                <a:latin typeface="Inter"/>
              </a:rPr>
              <a:t>Compiler bảo vệ kiến trúc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(ngăn import sai tầng).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1874490"/>
            <a:ext cx="518064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F4444"/>
                </a:solidFill>
                <a:latin typeface="Poppins"/>
              </a:rPr>
              <a:t>1. Demo.Domain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6525" y="1874490"/>
            <a:ext cx="518064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59E0B"/>
                </a:solidFill>
                <a:latin typeface="Poppins"/>
              </a:rPr>
              <a:t>2. Demo.Application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4612927"/>
            <a:ext cx="518064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0B981"/>
                </a:solidFill>
                <a:latin typeface="Poppins"/>
              </a:rPr>
              <a:t>3. Demo.Infrastructure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4612927"/>
            <a:ext cx="518064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oppins"/>
              </a:rPr>
              <a:t>4. Demo.API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2207865"/>
            <a:ext cx="46672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Entity, Business invariant, Interfaces.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2596455"/>
            <a:ext cx="46672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Không chứa: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EF Core, ASP.NET, HTTP status code.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3225" y="2207865"/>
            <a:ext cx="46672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Use case, Command, Handler, DTO.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3225" y="2596455"/>
            <a:ext cx="46672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CBD5E1"/>
                </a:solidFill>
                <a:latin typeface="Inter"/>
              </a:rPr>
              <a:t>Không chứa:</a:t>
            </a:r>
            <a:r>
              <a:rPr sz="1350" b="0" i="0" u="none">
                <a:solidFill>
                  <a:srgbClr val="CBD5E1"/>
                </a:solidFill>
                <a:latin typeface="Inter"/>
              </a:rPr>
              <a:t> SQL, DbContext, Controller.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5125" y="2985045"/>
            <a:ext cx="47053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1" u="none">
                <a:solidFill>
                  <a:srgbClr val="CBD5E1"/>
                </a:solidFill>
                <a:latin typeface="Inter"/>
              </a:rPr>
              <a:t>Chỉ phụ thuộc: Domain.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5" y="4946302"/>
            <a:ext cx="46672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EF Core, DbContext, Repo implementation.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5334892"/>
            <a:ext cx="47053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1" u="none">
                <a:solidFill>
                  <a:srgbClr val="CBD5E1"/>
                </a:solidFill>
                <a:latin typeface="Inter"/>
              </a:rPr>
              <a:t>Phụ thuộc: App &amp; Domain.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3225" y="4946302"/>
            <a:ext cx="46672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Controller, HTTP Request/Response, Program.cs (DI).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5125" y="5334892"/>
            <a:ext cx="47053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1" u="none">
                <a:solidFill>
                  <a:srgbClr val="CBD5E1"/>
                </a:solidFill>
                <a:latin typeface="Inter"/>
              </a:rPr>
              <a:t>Tham chiếu App &amp; Infra để lắp ráp.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476250"/>
            <a:ext cx="11601450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8FAFC"/>
                </a:solidFill>
                <a:latin typeface="Poppins SemiBold"/>
              </a:rPr>
              <a:t>7. Vì sao tổ chức thành 4 Projects (.NET)?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1190625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226915"/>
            <a:ext cx="152400" cy="1809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2615505"/>
            <a:ext cx="123825" cy="1809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2226915"/>
            <a:ext cx="152400" cy="1809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2615505"/>
            <a:ext cx="123825" cy="1809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3004095"/>
            <a:ext cx="85725" cy="1809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4965352"/>
            <a:ext cx="152400" cy="1809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5353942"/>
            <a:ext cx="85725" cy="1809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4965352"/>
            <a:ext cx="152400" cy="1809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5353942"/>
            <a:ext cx="85725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788866"/>
            <a:ext cx="11049000" cy="2381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798391"/>
            <a:ext cx="11029950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104900"/>
            <a:ext cx="672084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E2E8F0"/>
                </a:solidFill>
                <a:latin typeface="Inter"/>
              </a:rPr>
              <a:t>Repository Pattern và EF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53300" y="1104900"/>
            <a:ext cx="448056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E2E8F0"/>
                </a:solidFill>
                <a:latin typeface="Inter"/>
              </a:rPr>
              <a:t>SOLID </a:t>
            </a:r>
            <a:r>
              <a:rPr sz="1800" b="1" i="0" u="none" dirty="0" err="1">
                <a:solidFill>
                  <a:srgbClr val="E2E8F0"/>
                </a:solidFill>
                <a:latin typeface="Inter"/>
              </a:rPr>
              <a:t>trong</a:t>
            </a:r>
            <a:r>
              <a:rPr sz="1800" b="1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800" b="1" i="0" u="none" dirty="0" err="1">
                <a:solidFill>
                  <a:srgbClr val="E2E8F0"/>
                </a:solidFill>
                <a:latin typeface="Inter"/>
              </a:rPr>
              <a:t>kiến</a:t>
            </a:r>
            <a:r>
              <a:rPr sz="1800" b="1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800" b="1" i="0" u="none" dirty="0" err="1">
                <a:solidFill>
                  <a:srgbClr val="E2E8F0"/>
                </a:solidFill>
                <a:latin typeface="Inter"/>
              </a:rPr>
              <a:t>trúc</a:t>
            </a:r>
            <a:endParaRPr sz="1800" b="1" i="0" u="none" dirty="0">
              <a:solidFill>
                <a:srgbClr val="E2E8F0"/>
              </a:solidFill>
              <a:latin typeface="Inter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3900" y="3926978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3926978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04900" y="3926978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90650" y="3893641"/>
            <a:ext cx="2286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Fira Code"/>
              </a:rPr>
              <a:t>ProductRepository.cs (Adapter)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1533525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DbContext/DbSet đã mang nhiều đặc tính Repository.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1922115"/>
            <a:ext cx="6172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Tuy nhiên, IProductRepository giúp Application không phụ thuộc EF Core.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2584995"/>
            <a:ext cx="61722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Thêm abstraction khi nó bảo vệ ranh giới.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1533525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1922115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2584995"/>
            <a:ext cx="9525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Inter"/>
              </a:rPr>
              <a:t>Repository Pattern &amp; EF Core &amp; SOLID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1085850"/>
            <a:ext cx="11049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Fira Code SemiBold"/>
              </a:rPr>
              <a:t>19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FBEE4D0-A2AE-BAB5-0FE8-55C575F9B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2340" y="1393141"/>
            <a:ext cx="4460898" cy="210527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67F9592-E0E6-D04C-3FD6-48BB59DEBB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746" y="4169865"/>
            <a:ext cx="11050229" cy="265886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550" y="787003"/>
            <a:ext cx="342900" cy="38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09750" y="1358503"/>
            <a:ext cx="8572500" cy="3169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1" u="none">
                <a:solidFill>
                  <a:srgbClr val="F8FAFC"/>
                </a:solidFill>
                <a:latin typeface="Inter"/>
              </a:rPr>
              <a:t>"Chúng em không chọn Clean Architecture vì muốn có nhiều project hoặc nhiều folder. </a:t>
            </a:r>
            <a:r>
              <a:t>
</a:t>
            </a:r>
            <a:r>
              <a:rPr sz="1950" b="0" i="1" u="none">
                <a:solidFill>
                  <a:srgbClr val="F8FAFC"/>
                </a:solidFill>
                <a:latin typeface="Inter"/>
              </a:rPr>
              <a:t> Chúng em chọn nó để </a:t>
            </a:r>
            <a:r>
              <a:rPr sz="1950" b="0" i="1" u="none">
                <a:solidFill>
                  <a:srgbClr val="38BDF8"/>
                </a:solidFill>
                <a:latin typeface="Inter SemiBold"/>
              </a:rPr>
              <a:t>bảo vệ phần nghiệp vụ ổn định</a:t>
            </a:r>
            <a:r>
              <a:rPr sz="1950" b="0" i="1" u="none">
                <a:solidFill>
                  <a:srgbClr val="F8FAFC"/>
                </a:solidFill>
                <a:latin typeface="Inter"/>
              </a:rPr>
              <a:t> khỏi các chi tiết dễ thay đổi như Web API, EF Core và database. </a:t>
            </a:r>
            <a:r>
              <a:t>
</a:t>
            </a:r>
            <a:r>
              <a:rPr sz="1950" b="0" i="1" u="none">
                <a:solidFill>
                  <a:srgbClr val="F8FAFC"/>
                </a:solidFill>
                <a:latin typeface="Inter"/>
              </a:rPr>
              <a:t> Cách tổ chức này giúp thay đổi cục bộ, kiểm thử độc lập và thể hiện rõ các nguyên lý SOLID."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5916" y="5051821"/>
            <a:ext cx="134016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50" b="1" i="0" u="none">
                <a:solidFill>
                  <a:srgbClr val="10B981"/>
                </a:solidFill>
                <a:latin typeface="Inter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4337" y="5623321"/>
            <a:ext cx="3743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Cảm ơn thầy cô và các bạn đã lắng nghe!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15750" y="6467475"/>
            <a:ext cx="190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Fira Code SemiBold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1611</Words>
  <Application>Microsoft Office PowerPoint</Application>
  <PresentationFormat>Widescreen</PresentationFormat>
  <Paragraphs>236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Fira Code</vt:lpstr>
      <vt:lpstr>Fira Code SemiBold</vt:lpstr>
      <vt:lpstr>Inter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Nam</dc:creator>
  <cp:keywords/>
  <dc:description>generated using python-pptx</dc:description>
  <cp:lastModifiedBy>Nam Nguyễn</cp:lastModifiedBy>
  <cp:revision>9</cp:revision>
  <dcterms:created xsi:type="dcterms:W3CDTF">2013-01-27T09:14:16Z</dcterms:created>
  <dcterms:modified xsi:type="dcterms:W3CDTF">2026-08-23T16:49:25Z</dcterms:modified>
  <cp:category/>
</cp:coreProperties>
</file>