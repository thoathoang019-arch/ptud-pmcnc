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Inter SemiBold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Fira Code SemiBold"/>
      <p:regular r:id="rId40"/>
      <p:bold r:id="rId41"/>
    </p:embeddedFont>
    <p:embeddedFont>
      <p:font typeface="Fira Code"/>
      <p:regular r:id="rId42"/>
      <p:bold r:id="rId43"/>
    </p:embeddedFont>
    <p:embeddedFont>
      <p:font typeface="Poppins SemiBold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g4bmieuHU/4T7mh26CetyglKGn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9D819E-78C6-44FD-9A85-13538D3C9D30}">
  <a:tblStyle styleId="{DD9D819E-78C6-44FD-9A85-13538D3C9D3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CodeSemiBold-regular.fntdata"/><Relationship Id="rId20" Type="http://schemas.openxmlformats.org/officeDocument/2006/relationships/slide" Target="slides/slide14.xml"/><Relationship Id="rId42" Type="http://schemas.openxmlformats.org/officeDocument/2006/relationships/font" Target="fonts/FiraCode-regular.fntdata"/><Relationship Id="rId41" Type="http://schemas.openxmlformats.org/officeDocument/2006/relationships/font" Target="fonts/FiraCodeSemiBold-bold.fntdata"/><Relationship Id="rId22" Type="http://schemas.openxmlformats.org/officeDocument/2006/relationships/slide" Target="slides/slide16.xml"/><Relationship Id="rId44" Type="http://schemas.openxmlformats.org/officeDocument/2006/relationships/font" Target="fonts/PoppinsSemiBold-regular.fntdata"/><Relationship Id="rId21" Type="http://schemas.openxmlformats.org/officeDocument/2006/relationships/slide" Target="slides/slide15.xml"/><Relationship Id="rId43" Type="http://schemas.openxmlformats.org/officeDocument/2006/relationships/font" Target="fonts/FiraCode-bold.fntdata"/><Relationship Id="rId24" Type="http://schemas.openxmlformats.org/officeDocument/2006/relationships/slide" Target="slides/slide18.xml"/><Relationship Id="rId46" Type="http://schemas.openxmlformats.org/officeDocument/2006/relationships/font" Target="fonts/PoppinsSemiBold-italic.fntdata"/><Relationship Id="rId23" Type="http://schemas.openxmlformats.org/officeDocument/2006/relationships/slide" Target="slides/slide17.xml"/><Relationship Id="rId45" Type="http://schemas.openxmlformats.org/officeDocument/2006/relationships/font" Target="fonts/Poppi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PoppinsSemiBold-boldItalic.fntdata"/><Relationship Id="rId28" Type="http://schemas.openxmlformats.org/officeDocument/2006/relationships/font" Target="fonts/InterSemiBold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boldItalic.fntdata"/><Relationship Id="rId30" Type="http://schemas.openxmlformats.org/officeDocument/2006/relationships/font" Target="fonts/InterSemiBold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Poppins-bold.fntdata"/><Relationship Id="rId14" Type="http://schemas.openxmlformats.org/officeDocument/2006/relationships/slide" Target="slides/slide8.xml"/><Relationship Id="rId36" Type="http://schemas.openxmlformats.org/officeDocument/2006/relationships/font" Target="fonts/Poppins-regular.fntdata"/><Relationship Id="rId17" Type="http://schemas.openxmlformats.org/officeDocument/2006/relationships/slide" Target="slides/slide11.xml"/><Relationship Id="rId39" Type="http://schemas.openxmlformats.org/officeDocument/2006/relationships/font" Target="fonts/Poppins-boldItalic.fntdata"/><Relationship Id="rId16" Type="http://schemas.openxmlformats.org/officeDocument/2006/relationships/slide" Target="slides/slide10.xml"/><Relationship Id="rId38" Type="http://schemas.openxmlformats.org/officeDocument/2006/relationships/font" Target="fonts/Poppi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7" name="Google Shape;51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43.png"/><Relationship Id="rId5" Type="http://schemas.openxmlformats.org/officeDocument/2006/relationships/image" Target="../media/image11.png"/><Relationship Id="rId6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19.png"/><Relationship Id="rId10" Type="http://schemas.openxmlformats.org/officeDocument/2006/relationships/image" Target="../media/image22.png"/><Relationship Id="rId9" Type="http://schemas.openxmlformats.org/officeDocument/2006/relationships/image" Target="../media/image25.png"/><Relationship Id="rId5" Type="http://schemas.openxmlformats.org/officeDocument/2006/relationships/image" Target="../media/image35.png"/><Relationship Id="rId6" Type="http://schemas.openxmlformats.org/officeDocument/2006/relationships/image" Target="../media/image18.png"/><Relationship Id="rId7" Type="http://schemas.openxmlformats.org/officeDocument/2006/relationships/image" Target="../media/image23.png"/><Relationship Id="rId8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5" Type="http://schemas.openxmlformats.org/officeDocument/2006/relationships/image" Target="../media/image7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53.png"/><Relationship Id="rId5" Type="http://schemas.openxmlformats.org/officeDocument/2006/relationships/image" Target="../media/image37.png"/><Relationship Id="rId6" Type="http://schemas.openxmlformats.org/officeDocument/2006/relationships/image" Target="../media/image36.png"/><Relationship Id="rId7" Type="http://schemas.openxmlformats.org/officeDocument/2006/relationships/image" Target="../media/image55.png"/><Relationship Id="rId8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Relationship Id="rId5" Type="http://schemas.openxmlformats.org/officeDocument/2006/relationships/image" Target="../media/image70.png"/><Relationship Id="rId6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Relationship Id="rId4" Type="http://schemas.openxmlformats.org/officeDocument/2006/relationships/image" Target="../media/image70.png"/><Relationship Id="rId5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Relationship Id="rId4" Type="http://schemas.openxmlformats.org/officeDocument/2006/relationships/image" Target="../media/image49.png"/><Relationship Id="rId5" Type="http://schemas.openxmlformats.org/officeDocument/2006/relationships/image" Target="../media/image8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Relationship Id="rId4" Type="http://schemas.openxmlformats.org/officeDocument/2006/relationships/image" Target="../media/image50.png"/><Relationship Id="rId5" Type="http://schemas.openxmlformats.org/officeDocument/2006/relationships/image" Target="../media/image10.png"/><Relationship Id="rId6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7.png"/><Relationship Id="rId10" Type="http://schemas.openxmlformats.org/officeDocument/2006/relationships/image" Target="../media/image59.png"/><Relationship Id="rId13" Type="http://schemas.openxmlformats.org/officeDocument/2006/relationships/image" Target="../media/image74.png"/><Relationship Id="rId1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Relationship Id="rId4" Type="http://schemas.openxmlformats.org/officeDocument/2006/relationships/image" Target="../media/image66.png"/><Relationship Id="rId9" Type="http://schemas.openxmlformats.org/officeDocument/2006/relationships/image" Target="../media/image61.png"/><Relationship Id="rId14" Type="http://schemas.openxmlformats.org/officeDocument/2006/relationships/image" Target="../media/image75.png"/><Relationship Id="rId5" Type="http://schemas.openxmlformats.org/officeDocument/2006/relationships/image" Target="../media/image71.png"/><Relationship Id="rId6" Type="http://schemas.openxmlformats.org/officeDocument/2006/relationships/image" Target="../media/image54.png"/><Relationship Id="rId7" Type="http://schemas.openxmlformats.org/officeDocument/2006/relationships/image" Target="../media/image62.png"/><Relationship Id="rId8" Type="http://schemas.openxmlformats.org/officeDocument/2006/relationships/image" Target="../media/image6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4.png"/><Relationship Id="rId4" Type="http://schemas.openxmlformats.org/officeDocument/2006/relationships/image" Target="../media/image73.png"/><Relationship Id="rId5" Type="http://schemas.openxmlformats.org/officeDocument/2006/relationships/image" Target="../media/image69.png"/><Relationship Id="rId6" Type="http://schemas.openxmlformats.org/officeDocument/2006/relationships/image" Target="../media/image72.png"/><Relationship Id="rId7" Type="http://schemas.openxmlformats.org/officeDocument/2006/relationships/image" Target="../media/image6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7.png"/><Relationship Id="rId4" Type="http://schemas.openxmlformats.org/officeDocument/2006/relationships/image" Target="../media/image68.png"/><Relationship Id="rId5" Type="http://schemas.openxmlformats.org/officeDocument/2006/relationships/image" Target="../media/image81.png"/><Relationship Id="rId6" Type="http://schemas.openxmlformats.org/officeDocument/2006/relationships/image" Target="../media/image7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3795" y="1043285"/>
            <a:ext cx="3364259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4502348"/>
            <a:ext cx="5638800" cy="131236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3276600" y="4702373"/>
            <a:ext cx="5638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Nhóm sinh viên thực hiện: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276600" y="5071913"/>
            <a:ext cx="5638800" cy="223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Trương Quốc Toản • Nguyễn Bá Nam • Đào Đăng Quang • Trần An Bình</a:t>
            </a:r>
            <a:endParaRPr b="0" i="0" sz="12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196000" y="1600000"/>
            <a:ext cx="7800000" cy="1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Clean Architecture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Layered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0" y="3151882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Tổ chức code để thay đổi dễ hơn — không phải để có nhiều folder hơn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639192"/>
            <a:ext cx="2571750" cy="147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0" y="1639192"/>
            <a:ext cx="2571750" cy="147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4372867"/>
            <a:ext cx="2571750" cy="147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0" y="4372867"/>
            <a:ext cx="2571750" cy="14744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571500" y="2280344"/>
            <a:ext cx="56007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Hiểu → Phân biệt → Lựa chọn → Áp dụng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00100" y="3461444"/>
            <a:ext cx="5105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Giải thích được tư tưởng của hai kiến trúc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00100" y="3850034"/>
            <a:ext cx="5105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Thiết kế cấu trúc thư mục và trách nhiệm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800100" y="4238625"/>
            <a:ext cx="5105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Theo dõi một luồng CRUD xuyên qua các lớp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00100" y="4627215"/>
            <a:ext cx="5105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Chỉ ra SOLID ngay trên code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482238" y="1886842"/>
            <a:ext cx="218027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534150" y="2448817"/>
            <a:ext cx="2076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Hiểu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244488" y="1886842"/>
            <a:ext cx="218027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9296400" y="2448817"/>
            <a:ext cx="2076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 sánh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482238" y="4620517"/>
            <a:ext cx="218027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534150" y="5182492"/>
            <a:ext cx="2076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Áp dụng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244488" y="4620517"/>
            <a:ext cx="218027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296400" y="5182492"/>
            <a:ext cx="2076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571500" y="3461444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571500" y="3850034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571500" y="423862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571500" y="462721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Sau buổi này, bạn làm được gì?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1104900"/>
            <a:ext cx="42672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9980" y="1629667"/>
            <a:ext cx="309369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9980" y="2791717"/>
            <a:ext cx="1451669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82150" y="2791717"/>
            <a:ext cx="1451669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571500" y="1104900"/>
            <a:ext cx="6400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Business rule ổn định hơn framework, UI và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8320087" y="3496567"/>
            <a:ext cx="2333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Frameworks thay đổi liên tục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800100" y="163056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Hôm nay: REST + EF Core InMemory</a:t>
            </a:r>
            <a:endParaRPr b="0" i="0" sz="135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800100" y="2019151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Ngày mai: gRPC + SQL Server?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800100" y="2407741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Nếu nghiệp vụ phụ thuộc chi tiết, mọi thay đổi đều lan rộng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9467704" y="2448817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196238" y="2153542"/>
            <a:ext cx="581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(Ổn định)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571500" y="163056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571500" y="2019151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571500" y="2407741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Bài toán thật: thay đổi luôn xảy 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1104900"/>
            <a:ext cx="42672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9980" y="1528762"/>
            <a:ext cx="309369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9980" y="2185987"/>
            <a:ext cx="309369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9980" y="2843212"/>
            <a:ext cx="309369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9980" y="3500437"/>
            <a:ext cx="309369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Mỗi tầng có một trách nhiệm và thường gọi tầng ngay bên dưới.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800100" y="153159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HTTP/UI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800100" y="192018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Business Logic: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xử lý nghiệp vụ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800100" y="230877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Access: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truy cập dữ liệu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800100" y="269736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Database: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lưu trữ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571500" y="153159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571500" y="192018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571500" y="230877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571500" y="269736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Layered Architecture: chia theo tầng ngang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1104900"/>
            <a:ext cx="42672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2065"/>
            <a:ext cx="6400800" cy="56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46652" y="1576387"/>
            <a:ext cx="348034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46652" y="2233612"/>
            <a:ext cx="348034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46652" y="2890837"/>
            <a:ext cx="348034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46652" y="3548062"/>
            <a:ext cx="348034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Một thay đổi ở tầng dưới có thể kéo các tầng trên đi cùng.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800100" y="1664940"/>
            <a:ext cx="5981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Nguy cơ:</a:t>
            </a:r>
            <a:r>
              <a:rPr b="0" i="0" lang="en-US" sz="13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 Business logic biết ORM/model dữ liệu (rò rỉ abstraction).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800100" y="242500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Controller → Service → Repository →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800100" y="281359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Dễ hiểu và triển khai nhanh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7746652" y="2043112"/>
            <a:ext cx="348034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call + dependency 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7746652" y="2700337"/>
            <a:ext cx="348034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call + dependency 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7746652" y="3357562"/>
            <a:ext cx="348034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call + dependency 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571500" y="242500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571500" y="281359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Layered: đơn giản, nhưng dễ phụ thuộc dây chuyền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22065"/>
            <a:ext cx="5334000" cy="4859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22065"/>
            <a:ext cx="5334000" cy="485968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 txBox="1"/>
          <p:nvPr/>
        </p:nvSpPr>
        <p:spPr>
          <a:xfrm>
            <a:off x="571500" y="110490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Kiến trúc tốt là kiến trúc vừa đủ cho bài toán.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866775" y="1817340"/>
            <a:ext cx="49806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Phù hợp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66775" y="2188815"/>
            <a:ext cx="4743450" cy="95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6581775" y="1817340"/>
            <a:ext cx="49806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Cần cảnh giác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581775" y="2188815"/>
            <a:ext cx="4743450" cy="95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183639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 txBox="1"/>
          <p:nvPr/>
        </p:nvSpPr>
        <p:spPr>
          <a:xfrm>
            <a:off x="866775" y="2350740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✓ CRUD nhỏ, nghiệp vụ đơn giản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866775" y="2720280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✓ Giao hàng nhanh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866775" y="3089820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✓ Đội ngũ mới, thời gian ngắn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866775" y="3459360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✓ Framework/database ít khả năng thay đổi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9" name="Google Shape;19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183639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 txBox="1"/>
          <p:nvPr/>
        </p:nvSpPr>
        <p:spPr>
          <a:xfrm>
            <a:off x="6581775" y="2350740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! Service phình to, chứa quá nhiều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6581775" y="2720280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! Model rò rỉ qua các tầng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6581775" y="3089820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! Khó test độc lập (mocking khó khăn)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Khi nào Layered là lựa chọn hợp lý?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1104900"/>
            <a:ext cx="4267200" cy="2765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2825" y="1114425"/>
            <a:ext cx="42481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 txBox="1"/>
          <p:nvPr/>
        </p:nvSpPr>
        <p:spPr>
          <a:xfrm>
            <a:off x="571500" y="1104900"/>
            <a:ext cx="672084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Cấu trúc thư mục (N-Tier)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571500" y="1533525"/>
            <a:ext cx="6400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Một project chia thành nhiều thư mục (hoặc nhiều project class library phụ thuộc trực tiếp từ trên xuống).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800100" y="223450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Controllers/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800100" y="262309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Services/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800100" y="301168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Repositories/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800100" y="3400276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5057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6962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8867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8172450" y="1209675"/>
            <a:ext cx="2057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Solution Explorer - Layered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571500" y="223450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571500" y="262309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571500" y="301168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571500" y="3400276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Minh họa Layered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3300" y="1495425"/>
            <a:ext cx="4267200" cy="365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1104900"/>
            <a:ext cx="4267200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7650" y="1304925"/>
            <a:ext cx="32385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6275" y="1733550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4900" y="2162175"/>
            <a:ext cx="1524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53525" y="25908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Chi tiết bên ngoài phụ thuộc vào chính sách bên trong.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800100" y="153159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Entities: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luật nghiệp vụ cốt lõi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800100" y="192018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 Cases: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điều phối mục tiêu người dùng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800100" y="230877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Adapters: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chuyển đổi dữ liệu/giao tiếp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800100" y="269736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Frameworks &amp; Drivers: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Web, DB, thiết bị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571500" y="153159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571500" y="192018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571500" y="230877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571500" y="269736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Clean Architecture: bảo vệ lõi nghiệp vụ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1" name="Google Shape;25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15462" y="159067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15462" y="406717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53400" y="2828925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1104900"/>
            <a:ext cx="42672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62151"/>
            <a:ext cx="6400800" cy="83433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9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Vòng trong không biết tên của vòng ngoài.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800100" y="153159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Domain không biết ASP.NET 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800100" y="192018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Application không biết EF 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800100" y="230877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Infrastructure triển khai contract do lõi sở hữu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800100" y="269736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 nối các thành phần ở ngoài cùng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800100" y="3305026"/>
            <a:ext cx="5981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Nguyên tắc cốt lõi: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Không một dòng code nào ở vòng trong được phép nhắc đến tên một thành phần ở vòng ngoài.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571500" y="153159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571500" y="192018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571500" y="230877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571500" y="269736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Dependency Rule: mũi tên chỉ hướng vào 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3163" y="1093747"/>
            <a:ext cx="4640687" cy="3479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1104900"/>
            <a:ext cx="2924599" cy="7100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2825" y="1114425"/>
            <a:ext cx="2915074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 txBox="1"/>
          <p:nvPr/>
        </p:nvSpPr>
        <p:spPr>
          <a:xfrm>
            <a:off x="571500" y="1104900"/>
            <a:ext cx="672084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Ánh xạ vào .NET: Bốn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571500" y="1533525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Mỗi project có một lý do để thay đổi.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800100" y="196021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Demo.Domain: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Entities + Contracts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800100" y="234880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Demo.Application: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Cases + DTO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800100" y="273739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Demo.Infrastructure: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EF Core + Repository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800100" y="312598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Demo.API: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HTTP + Composition 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75057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76962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78867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8172450" y="1209675"/>
            <a:ext cx="2286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Solution Explorer - Clean 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571500" y="196021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571500" y="234880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571500" y="273739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571500" y="312598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Minh họa Clean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3300" y="1475779"/>
            <a:ext cx="29245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4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1"/>
          <p:cNvSpPr txBox="1"/>
          <p:nvPr/>
        </p:nvSpPr>
        <p:spPr>
          <a:xfrm>
            <a:off x="571500" y="110490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Khác biệt cốt lõi nằm ở quyền sở hữu abstraction và chiều phụ thuộc. Cả hai đều phân tách trách nhiệm.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4" name="Google Shape;304;p11"/>
          <p:cNvGraphicFramePr/>
          <p:nvPr/>
        </p:nvGraphicFramePr>
        <p:xfrm>
          <a:off x="571500" y="171256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{DD9D819E-78C6-44FD-9A85-13538D3C9D30}</a:tableStyleId>
              </a:tblPr>
              <a:tblGrid>
                <a:gridCol w="2546725"/>
                <a:gridCol w="4696075"/>
                <a:gridCol w="3901450"/>
              </a:tblGrid>
              <a:tr h="58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C0C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Tiêu chí</a:t>
                      </a:r>
                      <a:endParaRPr b="1" i="0" sz="1350" u="none" cap="none" strike="noStrike">
                        <a:solidFill>
                          <a:srgbClr val="0C0C0C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C0C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LAYERED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C0C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CLEAN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Mục tiêu tối ưu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Sự đơn giản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Tính độc lập của lõi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Chiều phụ thuộc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Trên → dưới</a:t>
                      </a:r>
                      <a:endParaRPr b="0" i="0" sz="1350" u="none" cap="none" strike="noStrike">
                        <a:solidFill>
                          <a:srgbClr val="CBD5E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Ngoài → trong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Lõi (Business)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Có thể biết DAL/ORM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Độc lập hoàn toàn hạ tầng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Tốc độ khởi đầu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Nhanh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Nhiều ranh giới (chậm hơn)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Unit Test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Thường cần nhiều mock phức tạp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 case độc lập, dễ test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305" name="Google Shape;305;p1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Layered và Clean: giống hình, khác trọng tâm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07815"/>
            <a:ext cx="5334000" cy="45739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439417"/>
            <a:ext cx="5334000" cy="56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285208"/>
            <a:ext cx="5334000" cy="56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2"/>
          <p:cNvSpPr txBox="1"/>
          <p:nvPr/>
        </p:nvSpPr>
        <p:spPr>
          <a:xfrm>
            <a:off x="571500" y="110490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Bắt đầu đơn giản; tăng ranh giới khi rủi ro thay đổi tăng.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 txBox="1"/>
          <p:nvPr/>
        </p:nvSpPr>
        <p:spPr>
          <a:xfrm>
            <a:off x="866775" y="2103090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Đặt câu hỏi: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7" name="Google Shape;31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1221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2"/>
          <p:cNvSpPr txBox="1"/>
          <p:nvPr/>
        </p:nvSpPr>
        <p:spPr>
          <a:xfrm>
            <a:off x="1095375" y="2569815"/>
            <a:ext cx="4514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Nghiệp vụ có phức tạp và sống lâu?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1095375" y="2958405"/>
            <a:ext cx="4514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Hạ tầng/UI có thể thay đổi?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1095375" y="3346995"/>
            <a:ext cx="4514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Cần test use case không cần web/database?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6515100" y="3582292"/>
            <a:ext cx="4914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Nếu phần lớn là 'không' →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Layered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có thể đủ.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6515100" y="4428083"/>
            <a:ext cx="4914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Nếu phần lớn là 'có' →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Clean Architecture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là lựa chọn tốt.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866775" y="256981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866775" y="295840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866775" y="334699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Chọn kiến trúc bằng câu hỏi, không bằng phong trào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88035"/>
            <a:ext cx="11049000" cy="773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2600"/>
            <a:ext cx="3524250" cy="2249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752600"/>
            <a:ext cx="3524250" cy="2249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752600"/>
            <a:ext cx="3524250" cy="224968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3"/>
          <p:cNvSpPr txBox="1"/>
          <p:nvPr/>
        </p:nvSpPr>
        <p:spPr>
          <a:xfrm>
            <a:off x="571500" y="12096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Vì sao không chọn Layered? Nhóm chọn Clean Architecture vì dự án không chỉ làm CRUD mà còn muốn: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800100" y="4430910"/>
            <a:ext cx="106299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Trọng tâm: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Quy tắc "Giá sản phẩm &gt; 0" vẫn đúng dù dùng Web hay Console, SQL hay NoSQL. Vậy quy tắc này phải nằm ở Domain, chứ không phải trong Controller hay EF Core Repository.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819150" y="2028825"/>
            <a:ext cx="31803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Tách biệt hoàn toàn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819150" y="2514600"/>
            <a:ext cx="30289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Tách nghiệp vụ khỏi ASP.NET Core, EF Core và Database. Tránh để Controller hoặc Repository phình to chứa quá nhiều logic.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 txBox="1"/>
          <p:nvPr/>
        </p:nvSpPr>
        <p:spPr>
          <a:xfrm>
            <a:off x="4581525" y="2028825"/>
            <a:ext cx="31803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Kiểm thử dễ dàng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4581525" y="2514600"/>
            <a:ext cx="30289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Dễ dàng viết Unit Test cho logic nghiệp vụ (Core) mà không cần phải chạy Web Server hay cấu hình Database thật.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 txBox="1"/>
          <p:nvPr/>
        </p:nvSpPr>
        <p:spPr>
          <a:xfrm>
            <a:off x="8343900" y="2028825"/>
            <a:ext cx="31803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Dễ dàng thay đổi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 txBox="1"/>
          <p:nvPr/>
        </p:nvSpPr>
        <p:spPr>
          <a:xfrm>
            <a:off x="8343900" y="2514600"/>
            <a:ext cx="30289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Có thể đổi công nghệ bên ngoài (từ REST sang gRPC, SQL Server sang MongoDB) mà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ít ảnh hưởng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đến phần Core bên trong.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5" name="Google Shape;34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0764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20764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20764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3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Lựa chọn của nhóm: Clean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104900"/>
            <a:ext cx="5334000" cy="527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2065"/>
            <a:ext cx="5334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114425"/>
            <a:ext cx="5314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4"/>
          <p:cNvSpPr txBox="1"/>
          <p:nvPr/>
        </p:nvSpPr>
        <p:spPr>
          <a:xfrm>
            <a:off x="571500" y="1104900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Trong demo, vòng này tương ứng với: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 txBox="1"/>
          <p:nvPr/>
        </p:nvSpPr>
        <p:spPr>
          <a:xfrm>
            <a:off x="571500" y="2750790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Lý do đặt ở vòng trong: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 txBox="1"/>
          <p:nvPr/>
        </p:nvSpPr>
        <p:spPr>
          <a:xfrm>
            <a:off x="800100" y="3177480"/>
            <a:ext cx="5105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Đây là quy tắc nghiệp vụ, không phải quy tắc HTTP.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 txBox="1"/>
          <p:nvPr/>
        </p:nvSpPr>
        <p:spPr>
          <a:xfrm>
            <a:off x="800100" y="3566070"/>
            <a:ext cx="5105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Không phụ thuộc Controller, MediatR, EF Core.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64389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66294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68199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 txBox="1"/>
          <p:nvPr/>
        </p:nvSpPr>
        <p:spPr>
          <a:xfrm>
            <a:off x="7105650" y="1209675"/>
            <a:ext cx="1600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Product.cs (Entities)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571500" y="317748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 txBox="1"/>
          <p:nvPr/>
        </p:nvSpPr>
        <p:spPr>
          <a:xfrm>
            <a:off x="571500" y="356607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Vòng 1: Entities — nghiệp vụ cốt lõi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6975" y="1504950"/>
            <a:ext cx="53340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104900"/>
            <a:ext cx="5334000" cy="527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6025" y="1114425"/>
            <a:ext cx="5314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5"/>
          <p:cNvSpPr txBox="1"/>
          <p:nvPr/>
        </p:nvSpPr>
        <p:spPr>
          <a:xfrm>
            <a:off x="571500" y="110490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Application mô tả các chức năng hệ thống (Tạo, Cập nhật, Xóa, Lấy danh sách). Handler chỉ điều phối: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 txBox="1"/>
          <p:nvPr/>
        </p:nvSpPr>
        <p:spPr>
          <a:xfrm>
            <a:off x="571500" y="3047851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Lý do tách Use Case khỏi Controller: Use case không phụ thuộc giao thức HTTP. Dễ viết unit test.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800100" y="1805880"/>
            <a:ext cx="5105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Nhận yêu cầu.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800100" y="2194470"/>
            <a:ext cx="5105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Gọi Domain để tạo Product hợp lệ.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 txBox="1"/>
          <p:nvPr/>
        </p:nvSpPr>
        <p:spPr>
          <a:xfrm>
            <a:off x="800100" y="2583060"/>
            <a:ext cx="5105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Gọi repository abstraction (IProductRepository) để lưu.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64389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6294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68199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7105650" y="1209675"/>
            <a:ext cx="2286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CreateProductCommandHandler.cs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571500" y="180588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571500" y="219447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571500" y="258306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Vòng 2: Use Cases — ứng dụng cần làm gì?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4" y="1485825"/>
            <a:ext cx="5314949" cy="487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7" name="Google Shape;3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1104900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6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Chuyển đổi giữa bên ngoài và bên trong.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6"/>
          <p:cNvSpPr txBox="1"/>
          <p:nvPr/>
        </p:nvSpPr>
        <p:spPr>
          <a:xfrm>
            <a:off x="571500" y="2933551"/>
            <a:ext cx="6400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Lý do cần adapter: HTTP request không nên đi thẳng vào Domain. Domain object không nên tự gọi database.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6"/>
          <p:cNvSpPr txBox="1"/>
          <p:nvPr/>
        </p:nvSpPr>
        <p:spPr>
          <a:xfrm>
            <a:off x="800100" y="1531590"/>
            <a:ext cx="6172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Adapter đầu vào (API):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Controller chuyển HTTP request thành Command hoặc Query.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6"/>
          <p:cNvSpPr txBox="1"/>
          <p:nvPr/>
        </p:nvSpPr>
        <p:spPr>
          <a:xfrm>
            <a:off x="800100" y="2194470"/>
            <a:ext cx="6172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Adapter đầu ra (Infrastructure):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Repository chuyển lời gọi từ IProductRepository thành thao tác EF Core.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6"/>
          <p:cNvSpPr txBox="1"/>
          <p:nvPr/>
        </p:nvSpPr>
        <p:spPr>
          <a:xfrm>
            <a:off x="571500" y="153159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6"/>
          <p:cNvSpPr txBox="1"/>
          <p:nvPr/>
        </p:nvSpPr>
        <p:spPr>
          <a:xfrm>
            <a:off x="571500" y="219447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Vòng 3: Interface Adapters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040" y="4485443"/>
            <a:ext cx="6200666" cy="1476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3206" y="1145126"/>
            <a:ext cx="503449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3" name="Google Shape;4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1104899"/>
            <a:ext cx="4495800" cy="536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3560"/>
            <a:ext cx="6400800" cy="1108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2824" y="1114425"/>
            <a:ext cx="44481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7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Chi tiết triển khai, dễ thay đổi nhất.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7"/>
          <p:cNvSpPr txBox="1"/>
          <p:nvPr/>
        </p:nvSpPr>
        <p:spPr>
          <a:xfrm>
            <a:off x="800100" y="153159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ASP.NET Core, HTTP, Swagger.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800100" y="192018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Entity Framework Core, Database.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800100" y="2308770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Dependency Injection, Middleware.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7"/>
          <p:cNvSpPr txBox="1"/>
          <p:nvPr/>
        </p:nvSpPr>
        <p:spPr>
          <a:xfrm>
            <a:off x="800100" y="2916435"/>
            <a:ext cx="5981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Program.cs là Composition Root, nơi lắp ghép abstraction với implementation. Chỉ khu vực ngoài cùng cần biết cả interface và implementation.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75057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76962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7886700" y="12430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 txBox="1"/>
          <p:nvPr/>
        </p:nvSpPr>
        <p:spPr>
          <a:xfrm>
            <a:off x="8172450" y="1209675"/>
            <a:ext cx="2209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Program.cs (Composition Root)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571500" y="153159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571500" y="192018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"/>
          <p:cNvSpPr txBox="1"/>
          <p:nvPr/>
        </p:nvSpPr>
        <p:spPr>
          <a:xfrm>
            <a:off x="571500" y="2308770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Vòng 4: Frameworks &amp; Drivers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7367" y="1504950"/>
            <a:ext cx="4473633" cy="49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6" name="Google Shape;4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22065"/>
            <a:ext cx="5238750" cy="4859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522065"/>
            <a:ext cx="5238750" cy="4859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7475" y="2150715"/>
            <a:ext cx="10668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2675" y="2846040"/>
            <a:ext cx="16764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62175" y="3541365"/>
            <a:ext cx="20574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4236690"/>
            <a:ext cx="22098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29562" y="2989510"/>
            <a:ext cx="5334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29687" y="2989510"/>
            <a:ext cx="11430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48575" y="3970585"/>
            <a:ext cx="13716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53575" y="3951535"/>
            <a:ext cx="8001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8"/>
          <p:cNvSpPr txBox="1"/>
          <p:nvPr/>
        </p:nvSpPr>
        <p:spPr>
          <a:xfrm>
            <a:off x="571500" y="110490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Đây là điểm dễ nhầm lẫn nhất. Luồng chạy có vẻ đi từ ngoài vào trong rồi lại ra ngoài để lưu dữ liệu.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8"/>
          <p:cNvSpPr txBox="1"/>
          <p:nvPr/>
        </p:nvSpPr>
        <p:spPr>
          <a:xfrm>
            <a:off x="690562" y="1760190"/>
            <a:ext cx="5000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Luồng chạy (Runtime)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8"/>
          <p:cNvSpPr txBox="1"/>
          <p:nvPr/>
        </p:nvSpPr>
        <p:spPr>
          <a:xfrm>
            <a:off x="6500812" y="1760190"/>
            <a:ext cx="5000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Chiều phụ thuộc (Compile time)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8"/>
          <p:cNvSpPr txBox="1"/>
          <p:nvPr/>
        </p:nvSpPr>
        <p:spPr>
          <a:xfrm>
            <a:off x="6619875" y="5361979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Application gọi Interface ở lõi. Infra phụ thuộc vào Interface đó để triển khai.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0" name="Google Shape;450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33725" y="261744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33725" y="331276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33725" y="400809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05837" y="30942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10725" y="358958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163050" y="400868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Luồng chạy vs Chiều phụ thuộc (DIP)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3" name="Google Shape;4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74465"/>
            <a:ext cx="5334000" cy="2357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674465"/>
            <a:ext cx="5334000" cy="2357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12902"/>
            <a:ext cx="5334000" cy="19688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6" name="Google Shape;4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412902"/>
            <a:ext cx="5334000" cy="1968847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9"/>
          <p:cNvSpPr txBox="1"/>
          <p:nvPr/>
        </p:nvSpPr>
        <p:spPr>
          <a:xfrm>
            <a:off x="571500" y="120967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Việc tách thành project (thay vì folder) giúp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Compiler bảo vệ kiến trúc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(ngăn import sai tầng).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9"/>
          <p:cNvSpPr txBox="1"/>
          <p:nvPr/>
        </p:nvSpPr>
        <p:spPr>
          <a:xfrm>
            <a:off x="771525" y="1874490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1. Demo.Domain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9"/>
          <p:cNvSpPr txBox="1"/>
          <p:nvPr/>
        </p:nvSpPr>
        <p:spPr>
          <a:xfrm>
            <a:off x="6486525" y="1874490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2. Demo.Application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9"/>
          <p:cNvSpPr txBox="1"/>
          <p:nvPr/>
        </p:nvSpPr>
        <p:spPr>
          <a:xfrm>
            <a:off x="771525" y="4612927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3. Demo.Infrastructure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9"/>
          <p:cNvSpPr txBox="1"/>
          <p:nvPr/>
        </p:nvSpPr>
        <p:spPr>
          <a:xfrm>
            <a:off x="6486525" y="4612927"/>
            <a:ext cx="518064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4. Demo.API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9"/>
          <p:cNvSpPr txBox="1"/>
          <p:nvPr/>
        </p:nvSpPr>
        <p:spPr>
          <a:xfrm>
            <a:off x="1038225" y="220786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Entity, Business invariant, Interfaces.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9"/>
          <p:cNvSpPr txBox="1"/>
          <p:nvPr/>
        </p:nvSpPr>
        <p:spPr>
          <a:xfrm>
            <a:off x="1038225" y="259645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Không chứa: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EF Core, ASP.NET, HTTP status code.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 txBox="1"/>
          <p:nvPr/>
        </p:nvSpPr>
        <p:spPr>
          <a:xfrm>
            <a:off x="6753225" y="220786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case, Command, Handler, DTO.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9"/>
          <p:cNvSpPr txBox="1"/>
          <p:nvPr/>
        </p:nvSpPr>
        <p:spPr>
          <a:xfrm>
            <a:off x="6753225" y="2596455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Không chứa: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SQL, DbContext, Controller.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6715125" y="2985045"/>
            <a:ext cx="470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Chỉ phụ thuộc: Domain.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9"/>
          <p:cNvSpPr txBox="1"/>
          <p:nvPr/>
        </p:nvSpPr>
        <p:spPr>
          <a:xfrm>
            <a:off x="1038225" y="4946302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EF Core, DbContext, Repo implementation.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9"/>
          <p:cNvSpPr txBox="1"/>
          <p:nvPr/>
        </p:nvSpPr>
        <p:spPr>
          <a:xfrm>
            <a:off x="1000125" y="5334892"/>
            <a:ext cx="470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Phụ thuộc: App &amp; Domain.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9"/>
          <p:cNvSpPr txBox="1"/>
          <p:nvPr/>
        </p:nvSpPr>
        <p:spPr>
          <a:xfrm>
            <a:off x="6753225" y="4946302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Controller, HTTP Request/Response, Program.cs (DI).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9"/>
          <p:cNvSpPr txBox="1"/>
          <p:nvPr/>
        </p:nvSpPr>
        <p:spPr>
          <a:xfrm>
            <a:off x="6715125" y="5334892"/>
            <a:ext cx="470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Tham chiếu App &amp; Infra để lắp ráp.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9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7. Vì sao tổ chức thành 4 Projects (.NET)?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3" name="Google Shape;4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22691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615505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222691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2615505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3004095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8" name="Google Shape;4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96535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353942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496535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5353942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6" name="Google Shape;4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788866"/>
            <a:ext cx="1104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7" name="Google Shape;4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98391"/>
            <a:ext cx="11029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0"/>
          <p:cNvSpPr txBox="1"/>
          <p:nvPr/>
        </p:nvSpPr>
        <p:spPr>
          <a:xfrm>
            <a:off x="571500" y="1104900"/>
            <a:ext cx="672084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Repository Pattern và EF 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0"/>
          <p:cNvSpPr txBox="1"/>
          <p:nvPr/>
        </p:nvSpPr>
        <p:spPr>
          <a:xfrm>
            <a:off x="7353300" y="1104900"/>
            <a:ext cx="448056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SOLID trong kiến trúc</a:t>
            </a:r>
            <a:endParaRPr b="1" i="0" sz="1800" u="none" cap="none" strike="noStrike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723900" y="3926978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914400" y="3926978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1104900" y="3926978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 txBox="1"/>
          <p:nvPr/>
        </p:nvSpPr>
        <p:spPr>
          <a:xfrm>
            <a:off x="1390650" y="3893641"/>
            <a:ext cx="2286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ProductRepository.cs (Adapter)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0"/>
          <p:cNvSpPr txBox="1"/>
          <p:nvPr/>
        </p:nvSpPr>
        <p:spPr>
          <a:xfrm>
            <a:off x="800100" y="153352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DbContext/DbSet đã mang nhiều đặc tính Repository.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800100" y="1922115"/>
            <a:ext cx="6172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Tuy nhiên, IProductRepository giúp Application không phụ thuộc EF Core.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0"/>
          <p:cNvSpPr txBox="1"/>
          <p:nvPr/>
        </p:nvSpPr>
        <p:spPr>
          <a:xfrm>
            <a:off x="800100" y="2584995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Thêm abstraction khi nó bảo vệ ranh giới.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"/>
          <p:cNvSpPr txBox="1"/>
          <p:nvPr/>
        </p:nvSpPr>
        <p:spPr>
          <a:xfrm>
            <a:off x="571500" y="153352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0"/>
          <p:cNvSpPr txBox="1"/>
          <p:nvPr/>
        </p:nvSpPr>
        <p:spPr>
          <a:xfrm>
            <a:off x="571500" y="192211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0"/>
          <p:cNvSpPr txBox="1"/>
          <p:nvPr/>
        </p:nvSpPr>
        <p:spPr>
          <a:xfrm>
            <a:off x="571500" y="2584995"/>
            <a:ext cx="95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0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Repository Pattern &amp; EF Core &amp; SOLID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92340" y="1393141"/>
            <a:ext cx="4460898" cy="2105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746" y="4169865"/>
            <a:ext cx="11050229" cy="2658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9" name="Google Shape;5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4550" y="787003"/>
            <a:ext cx="342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1"/>
          <p:cNvSpPr txBox="1"/>
          <p:nvPr/>
        </p:nvSpPr>
        <p:spPr>
          <a:xfrm>
            <a:off x="1809750" y="1358503"/>
            <a:ext cx="8572500" cy="3169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1" lang="en-US" sz="19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"Chúng em không chọn Clean Architecture vì muốn có nhiều project hoặc nhiều folder.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9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Chúng em chọn nó để </a:t>
            </a:r>
            <a:r>
              <a:rPr b="0" i="1" lang="en-US" sz="19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bảo vệ phần nghiệp vụ ổn định</a:t>
            </a:r>
            <a:r>
              <a:rPr b="0" i="1" lang="en-US" sz="19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khỏi các chi tiết dễ thay đổi như Web API, EF Core và database.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9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Cách tổ chức này giúp thay đổi cục bộ, kiểm thử độc lập và thể hiện rõ các nguyên lý SOLID."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1"/>
          <p:cNvSpPr txBox="1"/>
          <p:nvPr/>
        </p:nvSpPr>
        <p:spPr>
          <a:xfrm>
            <a:off x="5096000" y="5051821"/>
            <a:ext cx="20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1"/>
          <p:cNvSpPr txBox="1"/>
          <p:nvPr/>
        </p:nvSpPr>
        <p:spPr>
          <a:xfrm>
            <a:off x="4224337" y="5880000"/>
            <a:ext cx="3743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Cảm ơn thầy cô và các bạn đã lắng nghe!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1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Nam</dc:creator>
</cp:coreProperties>
</file>